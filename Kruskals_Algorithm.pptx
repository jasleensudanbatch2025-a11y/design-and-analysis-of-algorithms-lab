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31af0459-6458-2785-53ae-880ee76733c6}">
          <p14:sldIdLst>
            <p14:sldId id="256"/>
          </p14:sldIdLst>
        </p14:section>
        <p14:section name="Concepts" id="{a2a1f142-2ce9-4e7e-d422-c120706e8437}">
          <p14:sldIdLst>
            <p14:sldId id="257"/>
            <p14:sldId id="258"/>
            <p14:sldId id="259"/>
          </p14:sldIdLst>
        </p14:section>
        <p14:section name="Algorithm" id="{b5483fe8-f479-b9e5-b3c4-56c1fbd77dea}">
          <p14:sldIdLst>
            <p14:sldId id="260"/>
          </p14:sldIdLst>
        </p14:section>
        <p14:section name="Trace" id="{b110f598-f910-339e-99d5-d19076bb1964}">
          <p14:sldIdLst>
            <p14:sldId id="261"/>
            <p14:sldId id="262"/>
            <p14:sldId id="263"/>
          </p14:sldIdLst>
        </p14:section>
        <p14:section name="Analysis" id="{6ccdbb23-6105-a0dd-fb5e-f0921eb1ebe2}">
          <p14:sldIdLst>
            <p14:sldId id="264"/>
          </p14:sldIdLst>
        </p14:section>
        <p14:section name="Wrap-up" id="{826f4ac3-5b30-5aaf-b606-1de40f81445d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Kruskal's algorithm: a greedy method for finding a Minimum Spanning Tree. This deck follows the structure of the 90-second explainer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Kruskal's is a greedy algorithm. It sorts all edges by weight and adds each edge only if it does not form a cycle. Cycle checks are done with Disjoint Set Union.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spanning tree must connect all vertices, have no cycles, contain exactly V-1 edges, and the MST is the one with the smallest total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edges A-B, B-C and A-C form a loop, so the cycle is rejected. Right: connecting all four vertices with exactly 3 edges gives a valid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steps: sort edges, pick the smallest, check for a cycle with Union-Find, accept or reject, and stop once V-1 edges are selected.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example graph has vertices A to E. Edges sorted by weight: AB1, BC2, AC3, BD4, CD5, CE6, DE7.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AB(1) and BC(2) are accepted, total weight 3. AC(3) would connect A and C, which are already in the same component through B, so it is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BD(4) is accepted, total 7. CD(5) forms cycle B-C-D and is rejected. CE(6) is accepted, total 13, which gives 4 edges. DE(7) is skipped because the MST is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Sorting dominates at O(E log E). Union-Find with path compression and union by rank gives near-constant time per operation. Space is O(V).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uses: networks, roads, power grids. The golden formula: greedy selection plus no cycles equals a minimum spanning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Kruskal's Algorithm  |  Design and Analysis of Algorithms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Kruskal's Algorithm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Greedy Minimum Spanning Tree in connected, weighted graphs</a:t>
            </a:r>
            <a:endParaRPr lang="en-US" sz="2000" dirty="0"/>
          </a:p>
        </p:txBody>
      </p:sp>
      <p:sp>
        <p:nvSpPr>
          <p:cNvPr id="4" name="accent bar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Design and Analysis of Algorithms  |  DAA Lab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Based on the video “Kruskal’s Algorithm” (90 sec)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Core Definition &amp; Paradigm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What Kruskal's algorithm is and what it needs</a:t>
            </a:r>
            <a:endParaRPr lang="en-US" sz="1300" dirty="0"/>
          </a:p>
        </p:txBody>
      </p:sp>
      <p:sp>
        <p:nvSpPr>
          <p:cNvPr id="5" name="row Paradigm"/>
          <p:cNvSpPr/>
          <p:nvPr/>
        </p:nvSpPr>
        <p:spPr>
          <a:xfrm>
            <a:off x="457200" y="1234440"/>
            <a:ext cx="466344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130759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PARADIGM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5087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Greedy approach</a:t>
            </a:r>
            <a:endParaRPr lang="en-US" sz="1300" dirty="0"/>
          </a:p>
        </p:txBody>
      </p:sp>
      <p:sp>
        <p:nvSpPr>
          <p:cNvPr id="8" name="row Problem solved"/>
          <p:cNvSpPr/>
          <p:nvPr/>
        </p:nvSpPr>
        <p:spPr>
          <a:xfrm>
            <a:off x="457200" y="1911096"/>
            <a:ext cx="466344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98424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PROBLEM SOLVED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1854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Find the Minimum Spanning Tree (MST)</a:t>
            </a:r>
            <a:endParaRPr lang="en-US" sz="1300" dirty="0"/>
          </a:p>
        </p:txBody>
      </p:sp>
      <p:sp>
        <p:nvSpPr>
          <p:cNvPr id="11" name="row Input"/>
          <p:cNvSpPr/>
          <p:nvPr/>
        </p:nvSpPr>
        <p:spPr>
          <a:xfrm>
            <a:off x="457200" y="2587752"/>
            <a:ext cx="466344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26609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INPUT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" y="28620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Connected, undirected, weighted graph G = (V, E)</a:t>
            </a:r>
            <a:endParaRPr lang="en-US" sz="1300" dirty="0"/>
          </a:p>
        </p:txBody>
      </p:sp>
      <p:sp>
        <p:nvSpPr>
          <p:cNvPr id="14" name="row Core strategy"/>
          <p:cNvSpPr/>
          <p:nvPr/>
        </p:nvSpPr>
        <p:spPr>
          <a:xfrm>
            <a:off x="457200" y="3264408"/>
            <a:ext cx="466344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" y="333756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CORE STRATEGY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" y="3538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Sort edges by weight; add greedily if no cycle</a:t>
            </a:r>
            <a:endParaRPr lang="en-US" sz="1300" dirty="0"/>
          </a:p>
        </p:txBody>
      </p:sp>
      <p:sp>
        <p:nvSpPr>
          <p:cNvPr id="17" name="row Cycle prevention"/>
          <p:cNvSpPr/>
          <p:nvPr/>
        </p:nvSpPr>
        <p:spPr>
          <a:xfrm>
            <a:off x="457200" y="3941064"/>
            <a:ext cx="466344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" y="401421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CYCLE PREVENTION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" y="4215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Disjoint Set Union (rank + path compression)</a:t>
            </a:r>
            <a:endParaRPr lang="en-US" sz="1300" dirty="0"/>
          </a:p>
        </p:txBody>
      </p:sp>
      <p:sp>
        <p:nvSpPr>
          <p:cNvPr id="20" name="graph panel"/>
          <p:cNvSpPr/>
          <p:nvPr/>
        </p:nvSpPr>
        <p:spPr>
          <a:xfrm>
            <a:off x="5349240" y="1234440"/>
            <a:ext cx="3337560" cy="3328416"/>
          </a:xfrm>
          <a:prstGeom prst="roundRect">
            <a:avLst>
              <a:gd name="adj" fmla="val 2198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532120" y="1344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WEIGHTED UNDIRECTED GRAPH</a:t>
            </a:r>
            <a:endParaRPr lang="en-US" sz="1100" dirty="0"/>
          </a:p>
        </p:txBody>
      </p:sp>
      <p:sp>
        <p:nvSpPr>
          <p:cNvPr id="22" name="edge AB"/>
          <p:cNvSpPr/>
          <p:nvPr/>
        </p:nvSpPr>
        <p:spPr>
          <a:xfrm flipV="1">
            <a:off x="5845302" y="1989734"/>
            <a:ext cx="1172718" cy="538582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3" name="edge BC"/>
          <p:cNvSpPr/>
          <p:nvPr/>
        </p:nvSpPr>
        <p:spPr>
          <a:xfrm flipV="1">
            <a:off x="6444691" y="1989734"/>
            <a:ext cx="573329" cy="1528877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4" name="edge AC"/>
          <p:cNvSpPr/>
          <p:nvPr/>
        </p:nvSpPr>
        <p:spPr>
          <a:xfrm>
            <a:off x="5845302" y="2528316"/>
            <a:ext cx="599389" cy="990295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5" name="edge BD"/>
          <p:cNvSpPr/>
          <p:nvPr/>
        </p:nvSpPr>
        <p:spPr>
          <a:xfrm>
            <a:off x="7018020" y="1989734"/>
            <a:ext cx="1172718" cy="538582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6" name="edge CD"/>
          <p:cNvSpPr/>
          <p:nvPr/>
        </p:nvSpPr>
        <p:spPr>
          <a:xfrm flipV="1">
            <a:off x="6444691" y="2528316"/>
            <a:ext cx="1746047" cy="990295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7" name="edge CE"/>
          <p:cNvSpPr/>
          <p:nvPr/>
        </p:nvSpPr>
        <p:spPr>
          <a:xfrm>
            <a:off x="6444691" y="3518611"/>
            <a:ext cx="13030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8" name="edge DE"/>
          <p:cNvSpPr/>
          <p:nvPr/>
        </p:nvSpPr>
        <p:spPr>
          <a:xfrm flipV="1">
            <a:off x="7747711" y="2528316"/>
            <a:ext cx="443027" cy="990295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9" name="weight AB"/>
          <p:cNvSpPr/>
          <p:nvPr/>
        </p:nvSpPr>
        <p:spPr>
          <a:xfrm>
            <a:off x="6303645" y="2158441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03645" y="2158441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1" name="weight BC"/>
          <p:cNvSpPr/>
          <p:nvPr/>
        </p:nvSpPr>
        <p:spPr>
          <a:xfrm>
            <a:off x="6603340" y="2653589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03340" y="2653589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3" name="weight AC"/>
          <p:cNvSpPr/>
          <p:nvPr/>
        </p:nvSpPr>
        <p:spPr>
          <a:xfrm>
            <a:off x="6016981" y="2922880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016981" y="29228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5" name="weight BD"/>
          <p:cNvSpPr/>
          <p:nvPr/>
        </p:nvSpPr>
        <p:spPr>
          <a:xfrm>
            <a:off x="7476363" y="2158441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476363" y="2158441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weight CD"/>
          <p:cNvSpPr/>
          <p:nvPr/>
        </p:nvSpPr>
        <p:spPr>
          <a:xfrm>
            <a:off x="7189699" y="2922880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189699" y="29228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9" name="weight CE"/>
          <p:cNvSpPr/>
          <p:nvPr/>
        </p:nvSpPr>
        <p:spPr>
          <a:xfrm>
            <a:off x="6968185" y="3418027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968185" y="3418027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weight DE"/>
          <p:cNvSpPr/>
          <p:nvPr/>
        </p:nvSpPr>
        <p:spPr>
          <a:xfrm>
            <a:off x="7841209" y="2922880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841209" y="29228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43" name="node A"/>
          <p:cNvSpPr/>
          <p:nvPr/>
        </p:nvSpPr>
        <p:spPr>
          <a:xfrm>
            <a:off x="5644134" y="2327148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44134" y="23271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45" name="node B"/>
          <p:cNvSpPr/>
          <p:nvPr/>
        </p:nvSpPr>
        <p:spPr>
          <a:xfrm>
            <a:off x="6816852" y="1788566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816852" y="178856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47" name="node D"/>
          <p:cNvSpPr/>
          <p:nvPr/>
        </p:nvSpPr>
        <p:spPr>
          <a:xfrm>
            <a:off x="7989570" y="2327148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989570" y="23271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49" name="node C"/>
          <p:cNvSpPr/>
          <p:nvPr/>
        </p:nvSpPr>
        <p:spPr>
          <a:xfrm>
            <a:off x="6243523" y="3317443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243523" y="33174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51" name="node E"/>
          <p:cNvSpPr/>
          <p:nvPr/>
        </p:nvSpPr>
        <p:spPr>
          <a:xfrm>
            <a:off x="7546543" y="3317443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546543" y="33174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5532120" y="3977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Goal: select V − 1 edges that connect all nodes with minimum total weight.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What Is a Minimum Spanning Tree?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Four properties every spanning tree must satisfy</a:t>
            </a:r>
            <a:endParaRPr lang="en-US" sz="1300" dirty="0"/>
          </a:p>
        </p:txBody>
      </p:sp>
      <p:sp>
        <p:nvSpPr>
          <p:cNvPr id="5" name="property 1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Connect all vertices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103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Every vertex of the graph is included; none left isolated or disconnected.</a:t>
            </a:r>
            <a:endParaRPr lang="en-US" sz="1300" dirty="0"/>
          </a:p>
        </p:txBody>
      </p:sp>
      <p:sp>
        <p:nvSpPr>
          <p:cNvPr id="10" name="property 2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1" name="badge 2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Avoid cycles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2103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The tree is acyclic. Any redundant edge would create a loop.</a:t>
            </a:r>
            <a:endParaRPr lang="en-US" sz="1300" dirty="0"/>
          </a:p>
        </p:txBody>
      </p:sp>
      <p:sp>
        <p:nvSpPr>
          <p:cNvPr id="15" name="property 3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6" name="badg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154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Exactly V − 1 edges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For |V| = 5, the tree must contain exactly 4 edges.</a:t>
            </a:r>
            <a:endParaRPr lang="en-US" sz="1300" dirty="0"/>
          </a:p>
        </p:txBody>
      </p:sp>
      <p:sp>
        <p:nvSpPr>
          <p:cNvPr id="20" name="property 4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1" name="badge 4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3154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Minimize total weight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Among all spanning trees, the MST has the smallest sum of edge weights.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Cycle vs. Valid Spanning Tree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Why redundant edges are rejected</a:t>
            </a:r>
            <a:endParaRPr lang="en-US" sz="1300" dirty="0"/>
          </a:p>
        </p:txBody>
      </p:sp>
      <p:sp>
        <p:nvSpPr>
          <p:cNvPr id="5" name="invalid panel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INVALID: CONTAINS A CYCLE</a:t>
            </a:r>
            <a:endParaRPr lang="en-US" sz="1400" dirty="0"/>
          </a:p>
        </p:txBody>
      </p:sp>
      <p:sp>
        <p:nvSpPr>
          <p:cNvPr id="7" name="mini edge AB"/>
          <p:cNvSpPr/>
          <p:nvPr/>
        </p:nvSpPr>
        <p:spPr>
          <a:xfrm flipV="1">
            <a:off x="1225296" y="2121408"/>
            <a:ext cx="1243584" cy="699516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8" name="mini edge BC"/>
          <p:cNvSpPr/>
          <p:nvPr/>
        </p:nvSpPr>
        <p:spPr>
          <a:xfrm>
            <a:off x="2468880" y="2121408"/>
            <a:ext cx="0" cy="1321308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9" name="mini edge AC"/>
          <p:cNvSpPr/>
          <p:nvPr/>
        </p:nvSpPr>
        <p:spPr>
          <a:xfrm>
            <a:off x="1225296" y="2820924"/>
            <a:ext cx="1243584" cy="621792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10" name="mini edge BD"/>
          <p:cNvSpPr/>
          <p:nvPr/>
        </p:nvSpPr>
        <p:spPr>
          <a:xfrm>
            <a:off x="2468880" y="2121408"/>
            <a:ext cx="1305763" cy="699516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1" name="mini node A"/>
          <p:cNvSpPr/>
          <p:nvPr/>
        </p:nvSpPr>
        <p:spPr>
          <a:xfrm>
            <a:off x="1042416" y="2638044"/>
            <a:ext cx="365760" cy="36576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26380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13" name="mini node B"/>
          <p:cNvSpPr/>
          <p:nvPr/>
        </p:nvSpPr>
        <p:spPr>
          <a:xfrm>
            <a:off x="2286000" y="1938528"/>
            <a:ext cx="365760" cy="36576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28600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5" name="mini node C"/>
          <p:cNvSpPr/>
          <p:nvPr/>
        </p:nvSpPr>
        <p:spPr>
          <a:xfrm>
            <a:off x="2286000" y="3259836"/>
            <a:ext cx="365760" cy="36576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286000" y="32598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7" name="mini node D"/>
          <p:cNvSpPr/>
          <p:nvPr/>
        </p:nvSpPr>
        <p:spPr>
          <a:xfrm>
            <a:off x="3591763" y="2638044"/>
            <a:ext cx="365760" cy="36576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91763" y="26380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A–B–C forms a loop that wastes edge weight without connecting new nodes. The edge is rejected.</a:t>
            </a:r>
            <a:endParaRPr lang="en-US" sz="1200" dirty="0"/>
          </a:p>
        </p:txBody>
      </p:sp>
      <p:sp>
        <p:nvSpPr>
          <p:cNvPr id="20" name="valid panel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4632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VALID: MINIMUM SPANNING TREE</a:t>
            </a:r>
            <a:endParaRPr lang="en-US" sz="1400" dirty="0"/>
          </a:p>
        </p:txBody>
      </p:sp>
      <p:sp>
        <p:nvSpPr>
          <p:cNvPr id="22" name="mini edge AB"/>
          <p:cNvSpPr/>
          <p:nvPr/>
        </p:nvSpPr>
        <p:spPr>
          <a:xfrm flipV="1">
            <a:off x="5431536" y="2121408"/>
            <a:ext cx="1243584" cy="699516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23" name="mini edge BC"/>
          <p:cNvSpPr/>
          <p:nvPr/>
        </p:nvSpPr>
        <p:spPr>
          <a:xfrm>
            <a:off x="6675120" y="2121408"/>
            <a:ext cx="0" cy="1321308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24" name="mini edge BD"/>
          <p:cNvSpPr/>
          <p:nvPr/>
        </p:nvSpPr>
        <p:spPr>
          <a:xfrm>
            <a:off x="6675120" y="2121408"/>
            <a:ext cx="1305763" cy="699516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25" name="mini node A"/>
          <p:cNvSpPr/>
          <p:nvPr/>
        </p:nvSpPr>
        <p:spPr>
          <a:xfrm>
            <a:off x="5248656" y="2638044"/>
            <a:ext cx="365760" cy="36576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248656" y="26380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27" name="mini node B"/>
          <p:cNvSpPr/>
          <p:nvPr/>
        </p:nvSpPr>
        <p:spPr>
          <a:xfrm>
            <a:off x="6492240" y="1938528"/>
            <a:ext cx="365760" cy="36576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9224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29" name="mini node C"/>
          <p:cNvSpPr/>
          <p:nvPr/>
        </p:nvSpPr>
        <p:spPr>
          <a:xfrm>
            <a:off x="6492240" y="3259836"/>
            <a:ext cx="365760" cy="36576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92240" y="32598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31" name="mini node D"/>
          <p:cNvSpPr/>
          <p:nvPr/>
        </p:nvSpPr>
        <p:spPr>
          <a:xfrm>
            <a:off x="7798003" y="2638044"/>
            <a:ext cx="365760" cy="36576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8003" y="26380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84632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All 4 vertices are connected using exactly 3 edges (V − 1) and zero cycles.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Step-by-Step Rules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How Kruskal's greedy strategy builds the MST</a:t>
            </a:r>
            <a:endParaRPr lang="en-US" sz="1300" dirty="0"/>
          </a:p>
        </p:txBody>
      </p:sp>
      <p:sp>
        <p:nvSpPr>
          <p:cNvPr id="5" name="step 1"/>
          <p:cNvSpPr/>
          <p:nvPr/>
        </p:nvSpPr>
        <p:spPr>
          <a:xfrm>
            <a:off x="457200" y="1234440"/>
            <a:ext cx="475488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1298448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Step 1: Sort all edges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54533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Ascending order of weight: w1 ≤ w2 ≤ … ≤ wm.</a:t>
            </a:r>
            <a:endParaRPr lang="en-US" sz="1100" dirty="0"/>
          </a:p>
        </p:txBody>
      </p:sp>
      <p:sp>
        <p:nvSpPr>
          <p:cNvPr id="8" name="step 2"/>
          <p:cNvSpPr/>
          <p:nvPr/>
        </p:nvSpPr>
        <p:spPr>
          <a:xfrm>
            <a:off x="457200" y="1901952"/>
            <a:ext cx="475488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965960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Step 2: Select the smallest edge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2128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Take the lowest-weight edge remaining in the list.</a:t>
            </a:r>
            <a:endParaRPr lang="en-US" sz="1100" dirty="0"/>
          </a:p>
        </p:txBody>
      </p:sp>
      <p:sp>
        <p:nvSpPr>
          <p:cNvPr id="11" name="step 3"/>
          <p:cNvSpPr/>
          <p:nvPr/>
        </p:nvSpPr>
        <p:spPr>
          <a:xfrm>
            <a:off x="457200" y="2569464"/>
            <a:ext cx="475488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263347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Step 3: Check for cycles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" y="28803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Union-Find: do both endpoints share a component?</a:t>
            </a:r>
            <a:endParaRPr lang="en-US" sz="1100" dirty="0"/>
          </a:p>
        </p:txBody>
      </p:sp>
      <p:sp>
        <p:nvSpPr>
          <p:cNvPr id="14" name="step 4"/>
          <p:cNvSpPr/>
          <p:nvPr/>
        </p:nvSpPr>
        <p:spPr>
          <a:xfrm>
            <a:off x="457200" y="3236976"/>
            <a:ext cx="475488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" y="3300984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 4: Accept or reject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" y="354787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No cycle: add to MST. Cycle: discard the edge.</a:t>
            </a:r>
            <a:endParaRPr lang="en-US" sz="1100" dirty="0"/>
          </a:p>
        </p:txBody>
      </p:sp>
      <p:sp>
        <p:nvSpPr>
          <p:cNvPr id="17" name="step 5"/>
          <p:cNvSpPr/>
          <p:nvPr/>
        </p:nvSpPr>
        <p:spPr>
          <a:xfrm>
            <a:off x="457200" y="3904488"/>
            <a:ext cx="475488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" y="3968496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Step 5: Stop condition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" y="421538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Terminate once exactly V − 1 edges are selected.</a:t>
            </a:r>
            <a:endParaRPr lang="en-US" sz="1100" dirty="0"/>
          </a:p>
        </p:txBody>
      </p:sp>
      <p:sp>
        <p:nvSpPr>
          <p:cNvPr id="20" name="flow panel"/>
          <p:cNvSpPr/>
          <p:nvPr/>
        </p:nvSpPr>
        <p:spPr>
          <a:xfrm>
            <a:off x="5440680" y="1234440"/>
            <a:ext cx="3246120" cy="3328416"/>
          </a:xfrm>
          <a:prstGeom prst="roundRect">
            <a:avLst>
              <a:gd name="adj" fmla="val 2254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577840" y="13258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DECISION FLOWCHART</a:t>
            </a:r>
            <a:endParaRPr lang="en-US" sz="1100" dirty="0"/>
          </a:p>
        </p:txBody>
      </p:sp>
      <p:sp>
        <p:nvSpPr>
          <p:cNvPr id="22" name="flow 1. Sort edges by weight"/>
          <p:cNvSpPr/>
          <p:nvPr/>
        </p:nvSpPr>
        <p:spPr>
          <a:xfrm>
            <a:off x="5989320" y="1645920"/>
            <a:ext cx="2148840" cy="347472"/>
          </a:xfrm>
          <a:prstGeom prst="roundRect">
            <a:avLst>
              <a:gd name="adj" fmla="val 15789"/>
            </a:avLst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89320" y="16459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1. Sort edges by weight</a:t>
            </a:r>
            <a:endParaRPr lang="en-US" sz="1100" dirty="0"/>
          </a:p>
        </p:txBody>
      </p:sp>
      <p:sp>
        <p:nvSpPr>
          <p:cNvPr id="24" name="arrow"/>
          <p:cNvSpPr/>
          <p:nvPr/>
        </p:nvSpPr>
        <p:spPr>
          <a:xfrm>
            <a:off x="7063740" y="1993392"/>
            <a:ext cx="0" cy="155448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5" name="flow 2. Pick next smallest edge"/>
          <p:cNvSpPr/>
          <p:nvPr/>
        </p:nvSpPr>
        <p:spPr>
          <a:xfrm>
            <a:off x="5989320" y="2148840"/>
            <a:ext cx="2148840" cy="347472"/>
          </a:xfrm>
          <a:prstGeom prst="roundRect">
            <a:avLst>
              <a:gd name="adj" fmla="val 15789"/>
            </a:avLst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89320" y="21488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2. Pick next smallest edge</a:t>
            </a:r>
            <a:endParaRPr lang="en-US" sz="1100" dirty="0"/>
          </a:p>
        </p:txBody>
      </p:sp>
      <p:sp>
        <p:nvSpPr>
          <p:cNvPr id="27" name="arrow"/>
          <p:cNvSpPr/>
          <p:nvPr/>
        </p:nvSpPr>
        <p:spPr>
          <a:xfrm>
            <a:off x="7063740" y="2496312"/>
            <a:ext cx="0" cy="155448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8" name="flow 3. Creates a cycle?"/>
          <p:cNvSpPr/>
          <p:nvPr/>
        </p:nvSpPr>
        <p:spPr>
          <a:xfrm>
            <a:off x="5989320" y="2651760"/>
            <a:ext cx="2148840" cy="347472"/>
          </a:xfrm>
          <a:prstGeom prst="roundRect">
            <a:avLst>
              <a:gd name="adj" fmla="val 15789"/>
            </a:avLst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89320" y="26517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3. Creates a cycle?</a:t>
            </a:r>
            <a:endParaRPr lang="en-US" sz="1100" dirty="0"/>
          </a:p>
        </p:txBody>
      </p:sp>
      <p:sp>
        <p:nvSpPr>
          <p:cNvPr id="30" name="arrow no"/>
          <p:cNvSpPr/>
          <p:nvPr/>
        </p:nvSpPr>
        <p:spPr>
          <a:xfrm>
            <a:off x="6446520" y="2999232"/>
            <a:ext cx="0" cy="15544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1" name="arrow yes"/>
          <p:cNvSpPr/>
          <p:nvPr/>
        </p:nvSpPr>
        <p:spPr>
          <a:xfrm>
            <a:off x="7680960" y="2999232"/>
            <a:ext cx="0" cy="155448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2" name="flow No: add to MST"/>
          <p:cNvSpPr/>
          <p:nvPr/>
        </p:nvSpPr>
        <p:spPr>
          <a:xfrm>
            <a:off x="5669280" y="3154680"/>
            <a:ext cx="1417320" cy="347472"/>
          </a:xfrm>
          <a:prstGeom prst="roundRect">
            <a:avLst>
              <a:gd name="adj" fmla="val 15789"/>
            </a:avLst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669280" y="3154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No: add to MST</a:t>
            </a:r>
            <a:endParaRPr lang="en-US" sz="1100" dirty="0"/>
          </a:p>
        </p:txBody>
      </p:sp>
      <p:sp>
        <p:nvSpPr>
          <p:cNvPr id="34" name="flow Yes: reject"/>
          <p:cNvSpPr/>
          <p:nvPr/>
        </p:nvSpPr>
        <p:spPr>
          <a:xfrm>
            <a:off x="7223760" y="3154680"/>
            <a:ext cx="1325880" cy="347472"/>
          </a:xfrm>
          <a:prstGeom prst="roundRect">
            <a:avLst>
              <a:gd name="adj" fmla="val 15789"/>
            </a:avLst>
          </a:prstGeom>
          <a:solidFill>
            <a:schemeClr val="tx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223760" y="31546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Yes: reject</a:t>
            </a:r>
            <a:endParaRPr lang="en-US" sz="1100" dirty="0"/>
          </a:p>
        </p:txBody>
      </p:sp>
      <p:sp>
        <p:nvSpPr>
          <p:cNvPr id="36" name="arrow"/>
          <p:cNvSpPr/>
          <p:nvPr/>
        </p:nvSpPr>
        <p:spPr>
          <a:xfrm>
            <a:off x="6382512" y="3502152"/>
            <a:ext cx="0" cy="201168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7" name="flow 4. V − 1 edges selected?"/>
          <p:cNvSpPr/>
          <p:nvPr/>
        </p:nvSpPr>
        <p:spPr>
          <a:xfrm>
            <a:off x="5989320" y="3703320"/>
            <a:ext cx="2148840" cy="347472"/>
          </a:xfrm>
          <a:prstGeom prst="roundRect">
            <a:avLst>
              <a:gd name="adj" fmla="val 15789"/>
            </a:avLst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989320" y="37033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4. V − 1 edges selected?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577840" y="4160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If no, loop back to step 2.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Live Execution: The Setup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5 vertices, 7 edges, so the MST needs exactly 4 edges</a:t>
            </a:r>
            <a:endParaRPr lang="en-US" sz="1300" dirty="0"/>
          </a:p>
        </p:txBody>
      </p:sp>
      <p:sp>
        <p:nvSpPr>
          <p:cNvPr id="5" name="graph panel"/>
          <p:cNvSpPr/>
          <p:nvPr/>
        </p:nvSpPr>
        <p:spPr>
          <a:xfrm>
            <a:off x="457200" y="1234440"/>
            <a:ext cx="4663440" cy="3328416"/>
          </a:xfrm>
          <a:prstGeom prst="roundRect">
            <a:avLst>
              <a:gd name="adj" fmla="val 2198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4416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GRAPH TOPOLOGY  (|V| = 5, target = 4 edges)</a:t>
            </a:r>
            <a:endParaRPr lang="en-US" sz="1100" dirty="0"/>
          </a:p>
        </p:txBody>
      </p:sp>
      <p:sp>
        <p:nvSpPr>
          <p:cNvPr id="7" name="edge AB"/>
          <p:cNvSpPr/>
          <p:nvPr/>
        </p:nvSpPr>
        <p:spPr>
          <a:xfrm flipV="1">
            <a:off x="1101852" y="1965960"/>
            <a:ext cx="1687068" cy="70866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8" name="edge BC"/>
          <p:cNvSpPr/>
          <p:nvPr/>
        </p:nvSpPr>
        <p:spPr>
          <a:xfrm flipV="1">
            <a:off x="1964131" y="1965960"/>
            <a:ext cx="824789" cy="20116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9" name="edge AC"/>
          <p:cNvSpPr/>
          <p:nvPr/>
        </p:nvSpPr>
        <p:spPr>
          <a:xfrm>
            <a:off x="1101852" y="2674620"/>
            <a:ext cx="862279" cy="13030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0" name="edge BD"/>
          <p:cNvSpPr/>
          <p:nvPr/>
        </p:nvSpPr>
        <p:spPr>
          <a:xfrm>
            <a:off x="2788920" y="1965960"/>
            <a:ext cx="1687068" cy="70866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1" name="edge CD"/>
          <p:cNvSpPr/>
          <p:nvPr/>
        </p:nvSpPr>
        <p:spPr>
          <a:xfrm flipV="1">
            <a:off x="1964131" y="2674620"/>
            <a:ext cx="2511857" cy="13030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2" name="edge CE"/>
          <p:cNvSpPr/>
          <p:nvPr/>
        </p:nvSpPr>
        <p:spPr>
          <a:xfrm>
            <a:off x="1964131" y="3977640"/>
            <a:ext cx="18745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3" name="edge DE"/>
          <p:cNvSpPr/>
          <p:nvPr/>
        </p:nvSpPr>
        <p:spPr>
          <a:xfrm flipV="1">
            <a:off x="3838651" y="2674620"/>
            <a:ext cx="637337" cy="13030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4" name="weight AB"/>
          <p:cNvSpPr/>
          <p:nvPr/>
        </p:nvSpPr>
        <p:spPr>
          <a:xfrm>
            <a:off x="1817370" y="221970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817370" y="221970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weight BC"/>
          <p:cNvSpPr/>
          <p:nvPr/>
        </p:nvSpPr>
        <p:spPr>
          <a:xfrm>
            <a:off x="2248510" y="287121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248510" y="28712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weight AC"/>
          <p:cNvSpPr/>
          <p:nvPr/>
        </p:nvSpPr>
        <p:spPr>
          <a:xfrm>
            <a:off x="1404976" y="322554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404976" y="322554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weight BD"/>
          <p:cNvSpPr/>
          <p:nvPr/>
        </p:nvSpPr>
        <p:spPr>
          <a:xfrm>
            <a:off x="3504438" y="221970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04438" y="221970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weight CD"/>
          <p:cNvSpPr/>
          <p:nvPr/>
        </p:nvSpPr>
        <p:spPr>
          <a:xfrm>
            <a:off x="3092044" y="322554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092044" y="322554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weight CE"/>
          <p:cNvSpPr/>
          <p:nvPr/>
        </p:nvSpPr>
        <p:spPr>
          <a:xfrm>
            <a:off x="2773375" y="387705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773375" y="387705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6" name="weight DE"/>
          <p:cNvSpPr/>
          <p:nvPr/>
        </p:nvSpPr>
        <p:spPr>
          <a:xfrm>
            <a:off x="4029304" y="322554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029304" y="322554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28" name="node A"/>
          <p:cNvSpPr/>
          <p:nvPr/>
        </p:nvSpPr>
        <p:spPr>
          <a:xfrm>
            <a:off x="900684" y="2473452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0684" y="24734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30" name="node B"/>
          <p:cNvSpPr/>
          <p:nvPr/>
        </p:nvSpPr>
        <p:spPr>
          <a:xfrm>
            <a:off x="2587752" y="1764792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587752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32" name="node D"/>
          <p:cNvSpPr/>
          <p:nvPr/>
        </p:nvSpPr>
        <p:spPr>
          <a:xfrm>
            <a:off x="4274820" y="2473452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274820" y="24734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34" name="node C"/>
          <p:cNvSpPr/>
          <p:nvPr/>
        </p:nvSpPr>
        <p:spPr>
          <a:xfrm>
            <a:off x="1762963" y="3776472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762963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36" name="node E"/>
          <p:cNvSpPr/>
          <p:nvPr/>
        </p:nvSpPr>
        <p:spPr>
          <a:xfrm>
            <a:off x="3637483" y="3776472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637483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38" name="queue panel"/>
          <p:cNvSpPr/>
          <p:nvPr/>
        </p:nvSpPr>
        <p:spPr>
          <a:xfrm>
            <a:off x="5349240" y="1234440"/>
            <a:ext cx="3337560" cy="3328416"/>
          </a:xfrm>
          <a:prstGeom prst="roundRect">
            <a:avLst>
              <a:gd name="adj" fmla="val 2198"/>
            </a:avLst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532120" y="1344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SORTED EDGES QUEUE</a:t>
            </a:r>
            <a:endParaRPr lang="en-US" sz="1100" dirty="0"/>
          </a:p>
        </p:txBody>
      </p:sp>
      <p:sp>
        <p:nvSpPr>
          <p:cNvPr id="40" name="queue AB"/>
          <p:cNvSpPr/>
          <p:nvPr/>
        </p:nvSpPr>
        <p:spPr>
          <a:xfrm>
            <a:off x="5532120" y="1664208"/>
            <a:ext cx="2971800" cy="310896"/>
          </a:xfrm>
          <a:prstGeom prst="roundRect">
            <a:avLst>
              <a:gd name="adj" fmla="val 14706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0" y="16642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Edge AB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7132320" y="16642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weight 1</a:t>
            </a:r>
            <a:endParaRPr lang="en-US" sz="1200" dirty="0"/>
          </a:p>
        </p:txBody>
      </p:sp>
      <p:sp>
        <p:nvSpPr>
          <p:cNvPr id="43" name="queue BC"/>
          <p:cNvSpPr/>
          <p:nvPr/>
        </p:nvSpPr>
        <p:spPr>
          <a:xfrm>
            <a:off x="5532120" y="2048256"/>
            <a:ext cx="2971800" cy="310896"/>
          </a:xfrm>
          <a:prstGeom prst="roundRect">
            <a:avLst>
              <a:gd name="adj" fmla="val 14706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69280" y="20482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Edge BC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7132320" y="20482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weight 2</a:t>
            </a:r>
            <a:endParaRPr lang="en-US" sz="1200" dirty="0"/>
          </a:p>
        </p:txBody>
      </p:sp>
      <p:sp>
        <p:nvSpPr>
          <p:cNvPr id="46" name="queue AC"/>
          <p:cNvSpPr/>
          <p:nvPr/>
        </p:nvSpPr>
        <p:spPr>
          <a:xfrm>
            <a:off x="5532120" y="2432304"/>
            <a:ext cx="2971800" cy="310896"/>
          </a:xfrm>
          <a:prstGeom prst="roundRect">
            <a:avLst>
              <a:gd name="adj" fmla="val 14706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0" y="24323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Edge AC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7132320" y="24323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weight 3</a:t>
            </a:r>
            <a:endParaRPr lang="en-US" sz="1200" dirty="0"/>
          </a:p>
        </p:txBody>
      </p:sp>
      <p:sp>
        <p:nvSpPr>
          <p:cNvPr id="49" name="queue BD"/>
          <p:cNvSpPr/>
          <p:nvPr/>
        </p:nvSpPr>
        <p:spPr>
          <a:xfrm>
            <a:off x="5532120" y="2816352"/>
            <a:ext cx="2971800" cy="310896"/>
          </a:xfrm>
          <a:prstGeom prst="roundRect">
            <a:avLst>
              <a:gd name="adj" fmla="val 14706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0" y="28163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Edge BD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7132320" y="28163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weight 4</a:t>
            </a:r>
            <a:endParaRPr lang="en-US" sz="1200" dirty="0"/>
          </a:p>
        </p:txBody>
      </p:sp>
      <p:sp>
        <p:nvSpPr>
          <p:cNvPr id="52" name="queue CD"/>
          <p:cNvSpPr/>
          <p:nvPr/>
        </p:nvSpPr>
        <p:spPr>
          <a:xfrm>
            <a:off x="5532120" y="3200400"/>
            <a:ext cx="2971800" cy="310896"/>
          </a:xfrm>
          <a:prstGeom prst="roundRect">
            <a:avLst>
              <a:gd name="adj" fmla="val 14706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0" y="32004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Edge CD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7132320" y="32004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weight 5</a:t>
            </a:r>
            <a:endParaRPr lang="en-US" sz="1200" dirty="0"/>
          </a:p>
        </p:txBody>
      </p:sp>
      <p:sp>
        <p:nvSpPr>
          <p:cNvPr id="55" name="queue CE"/>
          <p:cNvSpPr/>
          <p:nvPr/>
        </p:nvSpPr>
        <p:spPr>
          <a:xfrm>
            <a:off x="5532120" y="3584448"/>
            <a:ext cx="2971800" cy="310896"/>
          </a:xfrm>
          <a:prstGeom prst="roundRect">
            <a:avLst>
              <a:gd name="adj" fmla="val 14706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5669280" y="35844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Edge CE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7132320" y="35844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weight 6</a:t>
            </a:r>
            <a:endParaRPr lang="en-US" sz="1200" dirty="0"/>
          </a:p>
        </p:txBody>
      </p:sp>
      <p:sp>
        <p:nvSpPr>
          <p:cNvPr id="58" name="queue DE"/>
          <p:cNvSpPr/>
          <p:nvPr/>
        </p:nvSpPr>
        <p:spPr>
          <a:xfrm>
            <a:off x="5532120" y="3968496"/>
            <a:ext cx="2971800" cy="310896"/>
          </a:xfrm>
          <a:prstGeom prst="roundRect">
            <a:avLst>
              <a:gd name="adj" fmla="val 14706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669280" y="39684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Edge DE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7132320" y="396849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weight 7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5532120" y="437083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Process in this order. MST starts empty, total weight = 0.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Live Execution: Edges 1–3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Two edges accepted, then the first cycle is caught</a:t>
            </a:r>
            <a:endParaRPr lang="en-US" sz="1300" dirty="0"/>
          </a:p>
        </p:txBody>
      </p:sp>
      <p:sp>
        <p:nvSpPr>
          <p:cNvPr id="5" name="graph panel"/>
          <p:cNvSpPr/>
          <p:nvPr/>
        </p:nvSpPr>
        <p:spPr>
          <a:xfrm>
            <a:off x="457200" y="1234440"/>
            <a:ext cx="4663440" cy="3328416"/>
          </a:xfrm>
          <a:prstGeom prst="roundRect">
            <a:avLst>
              <a:gd name="adj" fmla="val 2198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4416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GRAPH STATE</a:t>
            </a:r>
            <a:endParaRPr lang="en-US" sz="1100" dirty="0"/>
          </a:p>
        </p:txBody>
      </p:sp>
      <p:sp>
        <p:nvSpPr>
          <p:cNvPr id="7" name="edge AB"/>
          <p:cNvSpPr/>
          <p:nvPr/>
        </p:nvSpPr>
        <p:spPr>
          <a:xfrm flipV="1">
            <a:off x="1101852" y="1965960"/>
            <a:ext cx="1687068" cy="70866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8" name="edge BC"/>
          <p:cNvSpPr/>
          <p:nvPr/>
        </p:nvSpPr>
        <p:spPr>
          <a:xfrm flipV="1">
            <a:off x="1964131" y="1965960"/>
            <a:ext cx="824789" cy="201168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9" name="edge AC"/>
          <p:cNvSpPr/>
          <p:nvPr/>
        </p:nvSpPr>
        <p:spPr>
          <a:xfrm>
            <a:off x="1101852" y="2674620"/>
            <a:ext cx="862279" cy="130302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dash"/>
          </a:ln>
        </p:spPr>
      </p:sp>
      <p:sp>
        <p:nvSpPr>
          <p:cNvPr id="10" name="edge BD"/>
          <p:cNvSpPr/>
          <p:nvPr/>
        </p:nvSpPr>
        <p:spPr>
          <a:xfrm>
            <a:off x="2788920" y="1965960"/>
            <a:ext cx="1687068" cy="70866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1" name="edge CD"/>
          <p:cNvSpPr/>
          <p:nvPr/>
        </p:nvSpPr>
        <p:spPr>
          <a:xfrm flipV="1">
            <a:off x="1964131" y="2674620"/>
            <a:ext cx="2511857" cy="13030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2" name="edge CE"/>
          <p:cNvSpPr/>
          <p:nvPr/>
        </p:nvSpPr>
        <p:spPr>
          <a:xfrm>
            <a:off x="1964131" y="3977640"/>
            <a:ext cx="18745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3" name="edge DE"/>
          <p:cNvSpPr/>
          <p:nvPr/>
        </p:nvSpPr>
        <p:spPr>
          <a:xfrm flipV="1">
            <a:off x="3838651" y="2674620"/>
            <a:ext cx="637337" cy="13030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4" name="weight AB"/>
          <p:cNvSpPr/>
          <p:nvPr/>
        </p:nvSpPr>
        <p:spPr>
          <a:xfrm>
            <a:off x="1817370" y="221970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817370" y="221970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weight BC"/>
          <p:cNvSpPr/>
          <p:nvPr/>
        </p:nvSpPr>
        <p:spPr>
          <a:xfrm>
            <a:off x="2248510" y="287121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248510" y="28712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weight AC"/>
          <p:cNvSpPr/>
          <p:nvPr/>
        </p:nvSpPr>
        <p:spPr>
          <a:xfrm>
            <a:off x="1404976" y="322554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404976" y="322554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weight BD"/>
          <p:cNvSpPr/>
          <p:nvPr/>
        </p:nvSpPr>
        <p:spPr>
          <a:xfrm>
            <a:off x="3504438" y="221970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04438" y="221970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weight CD"/>
          <p:cNvSpPr/>
          <p:nvPr/>
        </p:nvSpPr>
        <p:spPr>
          <a:xfrm>
            <a:off x="3092044" y="322554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092044" y="322554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weight CE"/>
          <p:cNvSpPr/>
          <p:nvPr/>
        </p:nvSpPr>
        <p:spPr>
          <a:xfrm>
            <a:off x="2773375" y="387705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773375" y="387705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6" name="weight DE"/>
          <p:cNvSpPr/>
          <p:nvPr/>
        </p:nvSpPr>
        <p:spPr>
          <a:xfrm>
            <a:off x="4029304" y="322554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029304" y="322554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28" name="node A"/>
          <p:cNvSpPr/>
          <p:nvPr/>
        </p:nvSpPr>
        <p:spPr>
          <a:xfrm>
            <a:off x="900684" y="2473452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0684" y="24734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30" name="node B"/>
          <p:cNvSpPr/>
          <p:nvPr/>
        </p:nvSpPr>
        <p:spPr>
          <a:xfrm>
            <a:off x="2587752" y="1764792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587752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32" name="node D"/>
          <p:cNvSpPr/>
          <p:nvPr/>
        </p:nvSpPr>
        <p:spPr>
          <a:xfrm>
            <a:off x="4274820" y="2473452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274820" y="24734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34" name="node C"/>
          <p:cNvSpPr/>
          <p:nvPr/>
        </p:nvSpPr>
        <p:spPr>
          <a:xfrm>
            <a:off x="1762963" y="3776472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762963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36" name="node E"/>
          <p:cNvSpPr/>
          <p:nvPr/>
        </p:nvSpPr>
        <p:spPr>
          <a:xfrm>
            <a:off x="3637483" y="3776472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637483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38" name="log 1"/>
          <p:cNvSpPr/>
          <p:nvPr/>
        </p:nvSpPr>
        <p:spPr>
          <a:xfrm>
            <a:off x="5349240" y="1234440"/>
            <a:ext cx="333756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504688" y="1325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Edge AB (1)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7132320" y="1325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ACCEPTED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5504688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 and B were separate; MST = {AB}</a:t>
            </a:r>
            <a:endParaRPr lang="en-US" sz="1200" dirty="0"/>
          </a:p>
        </p:txBody>
      </p:sp>
      <p:sp>
        <p:nvSpPr>
          <p:cNvPr id="42" name="log 2"/>
          <p:cNvSpPr/>
          <p:nvPr/>
        </p:nvSpPr>
        <p:spPr>
          <a:xfrm>
            <a:off x="5349240" y="2130552"/>
            <a:ext cx="333756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504688" y="22219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Edge BC (2)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7132320" y="22219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ACCEPTED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5504688" y="25420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 joins the component; total = 3</a:t>
            </a:r>
            <a:endParaRPr lang="en-US" sz="1200" dirty="0"/>
          </a:p>
        </p:txBody>
      </p:sp>
      <p:sp>
        <p:nvSpPr>
          <p:cNvPr id="46" name="log 3"/>
          <p:cNvSpPr/>
          <p:nvPr/>
        </p:nvSpPr>
        <p:spPr>
          <a:xfrm>
            <a:off x="5349240" y="3026664"/>
            <a:ext cx="3337560" cy="804672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504688" y="3118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Edge AC (3)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7132320" y="3118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REJECTED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5504688" y="34381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Cycle A–B–C detected</a:t>
            </a:r>
            <a:endParaRPr lang="en-US" sz="1200" dirty="0"/>
          </a:p>
        </p:txBody>
      </p:sp>
      <p:sp>
        <p:nvSpPr>
          <p:cNvPr id="50" name="status"/>
          <p:cNvSpPr/>
          <p:nvPr/>
        </p:nvSpPr>
        <p:spPr>
          <a:xfrm>
            <a:off x="5349240" y="3931920"/>
            <a:ext cx="3337560" cy="630936"/>
          </a:xfrm>
          <a:prstGeom prst="roundRect">
            <a:avLst>
              <a:gd name="adj" fmla="val 11594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349240" y="3931920"/>
            <a:ext cx="3337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Total weight = 3   |   Edges: 2 / 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Live Execution: Edges 4–7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The MST completes at total cost 13</a:t>
            </a:r>
            <a:endParaRPr lang="en-US" sz="1300" dirty="0"/>
          </a:p>
        </p:txBody>
      </p:sp>
      <p:sp>
        <p:nvSpPr>
          <p:cNvPr id="5" name="graph panel"/>
          <p:cNvSpPr/>
          <p:nvPr/>
        </p:nvSpPr>
        <p:spPr>
          <a:xfrm>
            <a:off x="457200" y="1234440"/>
            <a:ext cx="4663440" cy="3328416"/>
          </a:xfrm>
          <a:prstGeom prst="roundRect">
            <a:avLst>
              <a:gd name="adj" fmla="val 2198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4416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FINAL MST: AB + BC + BD + CE</a:t>
            </a:r>
            <a:endParaRPr lang="en-US" sz="1100" dirty="0"/>
          </a:p>
        </p:txBody>
      </p:sp>
      <p:sp>
        <p:nvSpPr>
          <p:cNvPr id="7" name="edge AB"/>
          <p:cNvSpPr/>
          <p:nvPr/>
        </p:nvSpPr>
        <p:spPr>
          <a:xfrm flipV="1">
            <a:off x="1101852" y="1965960"/>
            <a:ext cx="1687068" cy="70866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8" name="edge BC"/>
          <p:cNvSpPr/>
          <p:nvPr/>
        </p:nvSpPr>
        <p:spPr>
          <a:xfrm flipV="1">
            <a:off x="1964131" y="1965960"/>
            <a:ext cx="824789" cy="201168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9" name="edge AC"/>
          <p:cNvSpPr/>
          <p:nvPr/>
        </p:nvSpPr>
        <p:spPr>
          <a:xfrm>
            <a:off x="1101852" y="2674620"/>
            <a:ext cx="862279" cy="130302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dash"/>
          </a:ln>
        </p:spPr>
      </p:sp>
      <p:sp>
        <p:nvSpPr>
          <p:cNvPr id="10" name="edge BD"/>
          <p:cNvSpPr/>
          <p:nvPr/>
        </p:nvSpPr>
        <p:spPr>
          <a:xfrm>
            <a:off x="2788920" y="1965960"/>
            <a:ext cx="1687068" cy="70866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1" name="edge CD"/>
          <p:cNvSpPr/>
          <p:nvPr/>
        </p:nvSpPr>
        <p:spPr>
          <a:xfrm flipV="1">
            <a:off x="1964131" y="2674620"/>
            <a:ext cx="2511857" cy="130302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dash"/>
          </a:ln>
        </p:spPr>
      </p:sp>
      <p:sp>
        <p:nvSpPr>
          <p:cNvPr id="12" name="edge CE"/>
          <p:cNvSpPr/>
          <p:nvPr/>
        </p:nvSpPr>
        <p:spPr>
          <a:xfrm>
            <a:off x="1964131" y="3977640"/>
            <a:ext cx="18745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3" name="edge DE"/>
          <p:cNvSpPr/>
          <p:nvPr/>
        </p:nvSpPr>
        <p:spPr>
          <a:xfrm flipV="1">
            <a:off x="3838651" y="2674620"/>
            <a:ext cx="637337" cy="13030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dash"/>
          </a:ln>
        </p:spPr>
      </p:sp>
      <p:sp>
        <p:nvSpPr>
          <p:cNvPr id="14" name="weight AB"/>
          <p:cNvSpPr/>
          <p:nvPr/>
        </p:nvSpPr>
        <p:spPr>
          <a:xfrm>
            <a:off x="1817370" y="221970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817370" y="221970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weight BC"/>
          <p:cNvSpPr/>
          <p:nvPr/>
        </p:nvSpPr>
        <p:spPr>
          <a:xfrm>
            <a:off x="2248510" y="287121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248510" y="28712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weight AC"/>
          <p:cNvSpPr/>
          <p:nvPr/>
        </p:nvSpPr>
        <p:spPr>
          <a:xfrm>
            <a:off x="1404976" y="322554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404976" y="322554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weight BD"/>
          <p:cNvSpPr/>
          <p:nvPr/>
        </p:nvSpPr>
        <p:spPr>
          <a:xfrm>
            <a:off x="3504438" y="221970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04438" y="221970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weight CD"/>
          <p:cNvSpPr/>
          <p:nvPr/>
        </p:nvSpPr>
        <p:spPr>
          <a:xfrm>
            <a:off x="3092044" y="322554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092044" y="322554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weight CE"/>
          <p:cNvSpPr/>
          <p:nvPr/>
        </p:nvSpPr>
        <p:spPr>
          <a:xfrm>
            <a:off x="2773375" y="387705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773375" y="387705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6" name="weight DE"/>
          <p:cNvSpPr/>
          <p:nvPr/>
        </p:nvSpPr>
        <p:spPr>
          <a:xfrm>
            <a:off x="4029304" y="3225546"/>
            <a:ext cx="256032" cy="20116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029304" y="322554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28" name="node A"/>
          <p:cNvSpPr/>
          <p:nvPr/>
        </p:nvSpPr>
        <p:spPr>
          <a:xfrm>
            <a:off x="900684" y="2473452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0684" y="24734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30" name="node B"/>
          <p:cNvSpPr/>
          <p:nvPr/>
        </p:nvSpPr>
        <p:spPr>
          <a:xfrm>
            <a:off x="2587752" y="1764792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587752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32" name="node D"/>
          <p:cNvSpPr/>
          <p:nvPr/>
        </p:nvSpPr>
        <p:spPr>
          <a:xfrm>
            <a:off x="4274820" y="2473452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274820" y="24734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34" name="node C"/>
          <p:cNvSpPr/>
          <p:nvPr/>
        </p:nvSpPr>
        <p:spPr>
          <a:xfrm>
            <a:off x="1762963" y="3776472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762963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36" name="node E"/>
          <p:cNvSpPr/>
          <p:nvPr/>
        </p:nvSpPr>
        <p:spPr>
          <a:xfrm>
            <a:off x="3637483" y="3776472"/>
            <a:ext cx="402336" cy="402336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637483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38" name="log 4"/>
          <p:cNvSpPr/>
          <p:nvPr/>
        </p:nvSpPr>
        <p:spPr>
          <a:xfrm>
            <a:off x="5349240" y="1234440"/>
            <a:ext cx="333756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504688" y="129844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Edge BD (4)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7132320" y="129844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ACCEPTED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504688" y="15636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D joins the tree; total = 7</a:t>
            </a:r>
            <a:endParaRPr lang="en-US" sz="1100" dirty="0"/>
          </a:p>
        </p:txBody>
      </p:sp>
      <p:sp>
        <p:nvSpPr>
          <p:cNvPr id="42" name="log 5"/>
          <p:cNvSpPr/>
          <p:nvPr/>
        </p:nvSpPr>
        <p:spPr>
          <a:xfrm>
            <a:off x="5349240" y="1911096"/>
            <a:ext cx="333756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504688" y="197510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Edge CD (5)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7132320" y="1975104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REJECTED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5504688" y="22402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Cycle B–C–D detected</a:t>
            </a:r>
            <a:endParaRPr lang="en-US" sz="1100" dirty="0"/>
          </a:p>
        </p:txBody>
      </p:sp>
      <p:sp>
        <p:nvSpPr>
          <p:cNvPr id="46" name="log 6"/>
          <p:cNvSpPr/>
          <p:nvPr/>
        </p:nvSpPr>
        <p:spPr>
          <a:xfrm>
            <a:off x="5349240" y="2587752"/>
            <a:ext cx="333756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504688" y="265176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Edge CE (6)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7132320" y="265176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ACCEPTED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5504688" y="29169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E joins; 4 of 4 edges, total = 13</a:t>
            </a:r>
            <a:endParaRPr lang="en-US" sz="1100" dirty="0"/>
          </a:p>
        </p:txBody>
      </p:sp>
      <p:sp>
        <p:nvSpPr>
          <p:cNvPr id="50" name="log 7"/>
          <p:cNvSpPr/>
          <p:nvPr/>
        </p:nvSpPr>
        <p:spPr>
          <a:xfrm>
            <a:off x="5349240" y="3264408"/>
            <a:ext cx="333756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504688" y="332841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Edge DE (7)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7132320" y="332841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SKIPPED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504688" y="35935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MST already complete</a:t>
            </a:r>
            <a:endParaRPr lang="en-US" sz="1100" dirty="0"/>
          </a:p>
        </p:txBody>
      </p:sp>
      <p:sp>
        <p:nvSpPr>
          <p:cNvPr id="54" name="result"/>
          <p:cNvSpPr/>
          <p:nvPr/>
        </p:nvSpPr>
        <p:spPr>
          <a:xfrm>
            <a:off x="5349240" y="3968496"/>
            <a:ext cx="333756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349240" y="396849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MST complete: total cost = 13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Complexity &amp; Union-Find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Why detecting cycles is nearly constant time</a:t>
            </a:r>
            <a:endParaRPr lang="en-US" sz="1300" dirty="0"/>
          </a:p>
        </p:txBody>
      </p:sp>
      <p:sp>
        <p:nvSpPr>
          <p:cNvPr id="5" name="time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TIME: O(E log E)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Sorting edges is the dominant step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Union-Find operations: O(α(V)), near-linear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Equivalent to O(E log V), since E ≤ V²</a:t>
            </a:r>
            <a:endParaRPr lang="en-US" sz="1200" dirty="0"/>
          </a:p>
        </p:txBody>
      </p:sp>
      <p:sp>
        <p:nvSpPr>
          <p:cNvPr id="8" name="space"/>
          <p:cNvSpPr/>
          <p:nvPr/>
        </p:nvSpPr>
        <p:spPr>
          <a:xfrm>
            <a:off x="457200" y="2971800"/>
            <a:ext cx="4023360" cy="1591056"/>
          </a:xfrm>
          <a:prstGeom prst="roundRect">
            <a:avLst>
              <a:gd name="adj" fmla="val 4598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081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SPACE: O(V)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429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Parent array tracks component representatives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Rank / size array for union by rank</a:t>
            </a:r>
            <a:endParaRPr lang="en-US" sz="1200" dirty="0"/>
          </a:p>
        </p:txBody>
      </p:sp>
      <p:sp>
        <p:nvSpPr>
          <p:cNvPr id="11" name="dsu"/>
          <p:cNvSpPr/>
          <p:nvPr/>
        </p:nvSpPr>
        <p:spPr>
          <a:xfrm>
            <a:off x="4663440" y="1234440"/>
            <a:ext cx="4023360" cy="3328416"/>
          </a:xfrm>
          <a:prstGeom prst="roundRect">
            <a:avLst>
              <a:gd name="adj" fmla="val 2198"/>
            </a:avLst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DISJOINT SET UNION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Find(u)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Returns the root of u; path compression flattens the tree for amortized O(α(V)).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Union(u, v)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29443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Attaches the smaller tree under the larger one (union by rank), merging components.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3602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Cycle test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387705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If Find(u) == Find(v), adding edge (u, v) creates a cycle, so reject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Applications &amp; Key Takeaways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Kruskal's algorithm in a nutshell</a:t>
            </a:r>
            <a:endParaRPr lang="en-US" sz="1300" dirty="0"/>
          </a:p>
        </p:txBody>
      </p:sp>
      <p:sp>
        <p:nvSpPr>
          <p:cNvPr id="5" name="app 1"/>
          <p:cNvSpPr/>
          <p:nvPr/>
        </p:nvSpPr>
        <p:spPr>
          <a:xfrm>
            <a:off x="457200" y="123444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44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Computer &amp; Telecom Networks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Fiber and LAN wiring with minimal cable length.</a:t>
            </a:r>
            <a:endParaRPr lang="en-US" sz="1200" dirty="0"/>
          </a:p>
        </p:txBody>
      </p:sp>
      <p:sp>
        <p:nvSpPr>
          <p:cNvPr id="8" name="app 2"/>
          <p:cNvSpPr/>
          <p:nvPr/>
        </p:nvSpPr>
        <p:spPr>
          <a:xfrm>
            <a:off x="3246120" y="123444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344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Road &amp; Transport Planning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Connect cities and hubs while minimizing paving cost.</a:t>
            </a:r>
            <a:endParaRPr lang="en-US" sz="1200" dirty="0"/>
          </a:p>
        </p:txBody>
      </p:sp>
      <p:sp>
        <p:nvSpPr>
          <p:cNvPr id="11" name="app 3"/>
          <p:cNvSpPr/>
          <p:nvPr/>
        </p:nvSpPr>
        <p:spPr>
          <a:xfrm>
            <a:off x="6035040" y="123444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72200" y="1344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Power Grids &amp; Pipelines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Lay transmission lines and utilities at minimum cost.</a:t>
            </a:r>
            <a:endParaRPr lang="en-US" sz="1200" dirty="0"/>
          </a:p>
        </p:txBody>
      </p:sp>
      <p:sp>
        <p:nvSpPr>
          <p:cNvPr id="14" name="formula"/>
          <p:cNvSpPr/>
          <p:nvPr/>
        </p:nvSpPr>
        <p:spPr>
          <a:xfrm>
            <a:off x="457200" y="2724912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2724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GREEDY SELECTION  +  NO CYCLES  =  MINIMUM SPANNING TREE</a:t>
            </a:r>
            <a:endParaRPr lang="en-US" sz="2000" dirty="0"/>
          </a:p>
        </p:txBody>
      </p:sp>
      <p:sp>
        <p:nvSpPr>
          <p:cNvPr id="16" name="takeaway 1"/>
          <p:cNvSpPr/>
          <p:nvPr/>
        </p:nvSpPr>
        <p:spPr>
          <a:xfrm>
            <a:off x="457200" y="3529584"/>
            <a:ext cx="19659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6928" y="3602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Greedy strategy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3886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Always picks the lowest-weight edge available.</a:t>
            </a:r>
            <a:endParaRPr lang="en-US" sz="1100" dirty="0"/>
          </a:p>
        </p:txBody>
      </p:sp>
      <p:sp>
        <p:nvSpPr>
          <p:cNvPr id="19" name="takeaway 2"/>
          <p:cNvSpPr/>
          <p:nvPr/>
        </p:nvSpPr>
        <p:spPr>
          <a:xfrm>
            <a:off x="2537460" y="3529584"/>
            <a:ext cx="19659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647188" y="3602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Union-Find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647188" y="3886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Near O(1) cycle detection per edge.</a:t>
            </a:r>
            <a:endParaRPr lang="en-US" sz="1100" dirty="0"/>
          </a:p>
        </p:txBody>
      </p:sp>
      <p:sp>
        <p:nvSpPr>
          <p:cNvPr id="22" name="takeaway 3"/>
          <p:cNvSpPr/>
          <p:nvPr/>
        </p:nvSpPr>
        <p:spPr>
          <a:xfrm>
            <a:off x="4617720" y="3529584"/>
            <a:ext cx="19659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727448" y="3602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Exact stop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727448" y="3886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Stops after adding V − 1 edges.</a:t>
            </a:r>
            <a:endParaRPr lang="en-US" sz="1100" dirty="0"/>
          </a:p>
        </p:txBody>
      </p:sp>
      <p:sp>
        <p:nvSpPr>
          <p:cNvPr id="25" name="takeaway 4"/>
          <p:cNvSpPr/>
          <p:nvPr/>
        </p:nvSpPr>
        <p:spPr>
          <a:xfrm>
            <a:off x="6697980" y="3529584"/>
            <a:ext cx="19659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07708" y="3602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Sparse graphs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807708" y="3886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With O(E log E), it shines when E is small.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uskal Dark">
  <a:themeElements>
    <a:clrScheme name="Kruskal Dark">
      <a:dk1>
        <a:srgbClr val="0B1530"/>
      </a:dk1>
      <a:lt1>
        <a:srgbClr val="FFFFFF"/>
      </a:lt1>
      <a:dk2>
        <a:srgbClr val="14224A"/>
      </a:dk2>
      <a:lt2>
        <a:srgbClr val="A9B8E0"/>
      </a:lt2>
      <a:accent1>
        <a:srgbClr val="38BDF8"/>
      </a:accent1>
      <a:accent2>
        <a:srgbClr val="10B981"/>
      </a:accent2>
      <a:accent3>
        <a:srgbClr val="F59E0B"/>
      </a:accent3>
      <a:accent4>
        <a:srgbClr val="EF4444"/>
      </a:accent4>
      <a:accent5>
        <a:srgbClr val="818CF8"/>
      </a:accent5>
      <a:accent6>
        <a:srgbClr val="64748B"/>
      </a:accent6>
      <a:hlink>
        <a:srgbClr val="38BDF8"/>
      </a:hlink>
      <a:folHlink>
        <a:srgbClr val="818CF8"/>
      </a:folHlink>
    </a:clrScheme>
    <a:fontScheme name="Kruskal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Kruskal's Algorithm</dc:title>
  <dc:subject>PptxGenJS Presentation</dc:subject>
  <dc:creator>PptxGenJS</dc:creator>
  <cp:lastModifiedBy>PptxGenJS</cp:lastModifiedBy>
  <cp:revision>1</cp:revision>
  <dcterms:created xsi:type="dcterms:W3CDTF">2026-10-20T08:10:26Z</dcterms:created>
  <dcterms:modified xsi:type="dcterms:W3CDTF">2026-10-20T08:10:26Z</dcterms:modified>
</cp:coreProperties>
</file>